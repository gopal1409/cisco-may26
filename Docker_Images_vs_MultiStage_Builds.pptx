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7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Images vs Multi-Stage Builds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49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Guide to Optimizing Container Images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47B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Docker Image (Single-Stage Build)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4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it?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37160" cy="137160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Dockerfile with all build steps in one layer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137160" cy="137160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intermediate files and dependencies included in final image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37160" cy="137160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68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tools, compilers, and source code remain in the image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137160" cy="137160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926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final image size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37160" cy="137160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383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Simpler to understand and write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754880"/>
            <a:ext cx="8229600" cy="1645920"/>
          </a:xfrm>
          <a:prstGeom prst="rect">
            <a:avLst/>
          </a:prstGeom>
          <a:solidFill>
            <a:srgbClr val="F5F7FA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8920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ubuntu:20.04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apt-get update &amp;&amp; apt-get install -y \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build-essential git python3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/app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gcc -o myapp main.c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["./myapp"]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with Traditional Single-Stage Builds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7635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Image Size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298448"/>
            <a:ext cx="7635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all build tools, not needed at runtime (gcc, npm, pip, source code)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48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2148840"/>
            <a:ext cx="7635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Risk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350008"/>
            <a:ext cx="7635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Unnecessary dependencies and build tools increase attack surface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3200400"/>
            <a:ext cx="7635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 Deployment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401568"/>
            <a:ext cx="7635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images = longer pull times, slower container startup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51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4251960"/>
            <a:ext cx="7635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Overhead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4453128"/>
            <a:ext cx="7635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Wastes disk space on all systems running the container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Multi-Stage Docker Builds - The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4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Multi-Stage Build?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37160" cy="13716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FROM statements in a single Dockerfile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37160" cy="13716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031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can have different base images and dependencies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37160" cy="13716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560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artifacts copied selectively from builder stage to final stage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137160" cy="13716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17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final stage artifacts included in resulting image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137160" cy="13716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4747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tools and source code excluded from final image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137160" cy="13716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9319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Significantly smaller image size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47B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Multi-Stage Build - Code Example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solidFill>
            <a:srgbClr val="F5F7FA"/>
          </a:solidFill>
          <a:ln w="25400">
            <a:solidFill>
              <a:srgbClr val="0B4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1: Builder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ubuntu:20.04 AS builder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apt-get update &amp;&amp; apt-get install -y build-essential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/app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gcc -o myapp main.c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2: Runtime (Final)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ubuntu:20.04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--from=builder /app/myapp /app/myapp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["./myapp"]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47B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 Comparison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Single-Stage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051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Multi-Stage Build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3931920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249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727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Size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3931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249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653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MB+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847088"/>
            <a:ext cx="3931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653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50-100 MB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139696"/>
            <a:ext cx="3931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249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1579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Tools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432304"/>
            <a:ext cx="3931920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249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4505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432304"/>
            <a:ext cx="3931920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4505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724912"/>
            <a:ext cx="3931920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2496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7432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3931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2496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0358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017520"/>
            <a:ext cx="3931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0358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310128"/>
            <a:ext cx="3931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2496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3284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602736"/>
            <a:ext cx="3931920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2496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6210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602736"/>
            <a:ext cx="3931920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6210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895344"/>
            <a:ext cx="3931920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2496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9136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Speed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187952"/>
            <a:ext cx="3931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2496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2062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4187952"/>
            <a:ext cx="3931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42062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480560"/>
            <a:ext cx="3931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2496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4988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4773168"/>
            <a:ext cx="3931920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2496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7914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54880" y="4773168"/>
            <a:ext cx="3931920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47914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47B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Process Visualization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Build: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749040" cy="548640"/>
          </a:xfrm>
          <a:prstGeom prst="rect">
            <a:avLst/>
          </a:prstGeom>
          <a:solidFill>
            <a:srgbClr val="2496ED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Dockerfile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0" y="2057400"/>
            <a:ext cx="182880" cy="228600"/>
          </a:xfrm>
          <a:prstGeom prst="triangle">
            <a:avLst/>
          </a:prstGeom>
          <a:solidFill>
            <a:srgbClr val="1F1F1F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103120"/>
            <a:ext cx="3749040" cy="548640"/>
          </a:xfrm>
          <a:prstGeom prst="rect">
            <a:avLst/>
          </a:prstGeom>
          <a:solidFill>
            <a:srgbClr val="2496ED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deps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11680" y="2697480"/>
            <a:ext cx="182880" cy="228600"/>
          </a:xfrm>
          <a:prstGeom prst="triangle">
            <a:avLst/>
          </a:prstGeom>
          <a:solidFill>
            <a:srgbClr val="1F1F1F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017520"/>
            <a:ext cx="3749040" cy="548640"/>
          </a:xfrm>
          <a:prstGeom prst="rect">
            <a:avLst/>
          </a:prstGeom>
          <a:solidFill>
            <a:srgbClr val="E74C3C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175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Image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(500+ MB)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Multi-Stage Build: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37760" y="1463040"/>
            <a:ext cx="3749040" cy="548640"/>
          </a:xfrm>
          <a:prstGeom prst="rect">
            <a:avLst/>
          </a:prstGeom>
          <a:solidFill>
            <a:srgbClr val="2496ED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4630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Dockerfile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2057400"/>
            <a:ext cx="182880" cy="228600"/>
          </a:xfrm>
          <a:prstGeom prst="triangle">
            <a:avLst/>
          </a:prstGeom>
          <a:solidFill>
            <a:srgbClr val="1F1F1F"/>
          </a:solidFill>
          <a:ln/>
        </p:spPr>
      </p:sp>
      <p:sp>
        <p:nvSpPr>
          <p:cNvPr id="17" name="Shape 15"/>
          <p:cNvSpPr/>
          <p:nvPr/>
        </p:nvSpPr>
        <p:spPr>
          <a:xfrm>
            <a:off x="4937760" y="1920240"/>
            <a:ext cx="3749040" cy="548640"/>
          </a:xfrm>
          <a:prstGeom prst="rect">
            <a:avLst/>
          </a:prstGeom>
          <a:solidFill>
            <a:srgbClr val="2496ED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9202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(Builder)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deps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20840" y="2514600"/>
            <a:ext cx="182880" cy="228600"/>
          </a:xfrm>
          <a:prstGeom prst="triangle">
            <a:avLst/>
          </a:prstGeom>
          <a:solidFill>
            <a:srgbClr val="1F1F1F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3017520"/>
            <a:ext cx="3749040" cy="548640"/>
          </a:xfrm>
          <a:prstGeom prst="rect">
            <a:avLst/>
          </a:prstGeom>
          <a:solidFill>
            <a:srgbClr val="2496ED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0175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(Runtime)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binary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20840" y="3611880"/>
            <a:ext cx="182880" cy="228600"/>
          </a:xfrm>
          <a:prstGeom prst="triangle">
            <a:avLst/>
          </a:prstGeom>
          <a:solidFill>
            <a:srgbClr val="1F1F1F"/>
          </a:solidFill>
          <a:ln/>
        </p:spPr>
      </p:sp>
      <p:sp>
        <p:nvSpPr>
          <p:cNvPr id="23" name="Shape 21"/>
          <p:cNvSpPr/>
          <p:nvPr/>
        </p:nvSpPr>
        <p:spPr>
          <a:xfrm>
            <a:off x="4937760" y="4114800"/>
            <a:ext cx="3749040" cy="548640"/>
          </a:xfrm>
          <a:prstGeom prst="rect">
            <a:avLst/>
          </a:prstGeom>
          <a:solidFill>
            <a:srgbClr val="2ECC71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41148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Image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(50-100 MB)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47B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Multi-Stage Builds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8229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Compiled Languages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Go, Rust, C, C++ - separate compilation from runtime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8229600" cy="8229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860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Build Tools Heavy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53288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(npm), Python (pip) - significant dev dependencies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8229600" cy="8229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375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Production Deployments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58444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image size, improve security, faster pull times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343400"/>
            <a:ext cx="8229600" cy="8229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3891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Security-Critical Apps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6360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 attack surface by excluding build tools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47B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for Multi-Stage Builds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meaningful stage names (e.g., "builder", "runtime", "dependencies")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Copy only necessary artifacts with COPY --from=stagename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minimal base images for final stage (alpine, distroless)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Run tests in intermediate stages before copying to final stage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Order Dockerfile statements to maximize layer caching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.dockerignore to exclude unnecessary files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Document what each stage does with comments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47B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Example: Go Application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solidFill>
            <a:srgbClr val="F5F7FA"/>
          </a:solidFill>
          <a:ln w="25400">
            <a:solidFill>
              <a:srgbClr val="0B4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1: Build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golang:1.21 AS builder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go.mod go.sum ./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go mod download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CGO_ENABLED=0 go build -o app 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2: Runtime (Minimal)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distroless/base-debian11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--from=builder /app/app 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 8080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["/app"]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47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82880" cy="1828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6459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Multi-stage builds dramatically reduce image size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82880" cy="1828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402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Improved security by excluding build tools from final image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82880" cy="1828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8346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Faster deployments with smaller container images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182880" cy="1828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4290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Better organization and maintainability of Dockerfiles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069080"/>
            <a:ext cx="182880" cy="1828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0233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Industry best practice for production deployments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47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49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Multi-Stage Builds: Build Smarter, Deploy Faster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2026-05-26T07:00:36Z</dcterms:created>
  <dcterms:modified xsi:type="dcterms:W3CDTF">2026-05-26T07:00:36Z</dcterms:modified>
</cp:coreProperties>
</file>